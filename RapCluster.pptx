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407" r:id="rId2"/>
    <p:sldId id="408" r:id="rId3"/>
    <p:sldId id="409" r:id="rId4"/>
    <p:sldId id="410" r:id="rId5"/>
    <p:sldId id="411" r:id="rId6"/>
    <p:sldId id="412" r:id="rId7"/>
    <p:sldId id="413" r:id="rId8"/>
    <p:sldId id="414" r:id="rId9"/>
  </p:sldIdLst>
  <p:sldSz cx="9144000" cy="5143500" type="screen16x9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052C"/>
    <a:srgbClr val="0B7736"/>
    <a:srgbClr val="A10033"/>
    <a:srgbClr val="FBFCFC"/>
    <a:srgbClr val="FCFCFC"/>
    <a:srgbClr val="FCFCFD"/>
    <a:srgbClr val="FCFDFD"/>
    <a:srgbClr val="FDFDFD"/>
    <a:srgbClr val="FDFDFE"/>
    <a:srgbClr val="FD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5" autoAdjust="0"/>
    <p:restoredTop sz="96260" autoAdjust="0"/>
  </p:normalViewPr>
  <p:slideViewPr>
    <p:cSldViewPr snapToObjects="1" showGuides="1">
      <p:cViewPr varScale="1">
        <p:scale>
          <a:sx n="146" d="100"/>
          <a:sy n="146" d="100"/>
        </p:scale>
        <p:origin x="630" y="120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88" d="100"/>
          <a:sy n="88" d="100"/>
        </p:scale>
        <p:origin x="3822" y="78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‹Nr.›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‹Nr.›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CD1AA-81E9-2493-0B6B-704B94EC0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3DFD456-8799-8CFA-3632-8374A100A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FAA5611A-2B4C-CCAA-2E6B-28283C8D58A9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pPr marL="171450" indent="-171450">
              <a:buFontTx/>
              <a:buChar char="-"/>
            </a:pP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https://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medium.com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/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towards-data-science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/what-are-stable-diffusion-models-and-why-are-they-a-step-forward-for-image-generation-aa1182801d46</a:t>
            </a:r>
          </a:p>
          <a:p>
            <a:pPr marL="171450" indent="-171450">
              <a:buFontTx/>
              <a:buChar char="-"/>
            </a:pP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The plan was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to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present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denoising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today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, so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what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is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actually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denoising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?! </a:t>
            </a:r>
          </a:p>
          <a:p>
            <a:pPr marL="171450" indent="-171450">
              <a:buFontTx/>
              <a:buChar char="-"/>
            </a:pP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Couple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of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words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with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examples</a:t>
            </a:r>
            <a:endParaRPr lang="de-DE" b="0" i="0" u="none" strike="noStrike" dirty="0">
              <a:solidFill>
                <a:srgbClr val="444444"/>
              </a:solidFill>
              <a:effectLst/>
              <a:highlight>
                <a:srgbClr val="FFFFFF"/>
              </a:highlight>
              <a:latin typeface="Lucida Grande" panose="020B06000405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How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big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is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our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training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set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? </a:t>
            </a:r>
          </a:p>
          <a:p>
            <a:pPr marL="171450" indent="-171450">
              <a:buFontTx/>
              <a:buChar char="-"/>
            </a:pP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How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much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are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training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? </a:t>
            </a:r>
          </a:p>
          <a:p>
            <a:pPr marL="171450" indent="-171450">
              <a:buFontTx/>
              <a:buChar char="-"/>
            </a:pPr>
            <a:endParaRPr lang="de-DE" b="0" i="0" u="none" strike="noStrike" dirty="0">
              <a:solidFill>
                <a:srgbClr val="444444"/>
              </a:solidFill>
              <a:effectLst/>
              <a:highlight>
                <a:srgbClr val="FFFFFF"/>
              </a:highlight>
              <a:latin typeface="Lucida Grande" panose="020B06000405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EEFECA5-DC82-7E23-126D-05765D7696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72877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C98C8-9602-00F6-5388-FF6055AA9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01C7F752-EFBE-F4B4-ED9D-5BA981E11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90813C4F-A70A-64A5-AC97-F655FD31DB1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pPr marL="171450" indent="-171450">
              <a:buFontTx/>
              <a:buChar char="-"/>
            </a:pP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https://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medium.com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/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towards-data-science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/what-are-stable-diffusion-models-and-why-are-they-a-step-forward-for-image-generation-aa1182801d46</a:t>
            </a:r>
          </a:p>
          <a:p>
            <a:pPr marL="171450" indent="-171450">
              <a:buFontTx/>
              <a:buChar char="-"/>
            </a:pP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The plan was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to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present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denoising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today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, so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what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is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actually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denoising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?! </a:t>
            </a:r>
          </a:p>
          <a:p>
            <a:pPr marL="171450" indent="-171450">
              <a:buFontTx/>
              <a:buChar char="-"/>
            </a:pP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Couple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of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words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with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examples</a:t>
            </a:r>
            <a:endParaRPr lang="de-DE" b="0" i="0" u="none" strike="noStrike" dirty="0">
              <a:solidFill>
                <a:srgbClr val="444444"/>
              </a:solidFill>
              <a:effectLst/>
              <a:highlight>
                <a:srgbClr val="FFFFFF"/>
              </a:highlight>
              <a:latin typeface="Lucida Grande" panose="020B06000405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How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big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is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our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training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set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? </a:t>
            </a:r>
          </a:p>
          <a:p>
            <a:pPr marL="171450" indent="-171450">
              <a:buFontTx/>
              <a:buChar char="-"/>
            </a:pP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How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much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are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training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? </a:t>
            </a:r>
          </a:p>
          <a:p>
            <a:pPr marL="171450" indent="-171450">
              <a:buFontTx/>
              <a:buChar char="-"/>
            </a:pPr>
            <a:endParaRPr lang="de-DE" b="0" i="0" u="none" strike="noStrike" dirty="0">
              <a:solidFill>
                <a:srgbClr val="444444"/>
              </a:solidFill>
              <a:effectLst/>
              <a:highlight>
                <a:srgbClr val="FFFFFF"/>
              </a:highlight>
              <a:latin typeface="Lucida Grande" panose="020B06000405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A8B9C6C-7607-9D8A-1F2D-C9E169F882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14486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AC119-8809-C6F5-72CE-DDBC8128C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65BD19C0-D5BF-5BCF-A273-1FC2E89C9C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2A1CD0C2-7E43-EDA7-0FFE-40DEE4A6A981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pPr marL="171450" indent="-171450">
              <a:buFontTx/>
              <a:buChar char="-"/>
            </a:pP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https://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medium.com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/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towards-data-science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/what-are-stable-diffusion-models-and-why-are-they-a-step-forward-for-image-generation-aa1182801d46</a:t>
            </a:r>
          </a:p>
          <a:p>
            <a:pPr marL="171450" indent="-171450">
              <a:buFontTx/>
              <a:buChar char="-"/>
            </a:pP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The plan was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to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present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denoising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today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, so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what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is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actually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denoising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?! </a:t>
            </a:r>
          </a:p>
          <a:p>
            <a:pPr marL="171450" indent="-171450">
              <a:buFontTx/>
              <a:buChar char="-"/>
            </a:pP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Couple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of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words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with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examples</a:t>
            </a:r>
            <a:endParaRPr lang="de-DE" b="0" i="0" u="none" strike="noStrike" dirty="0">
              <a:solidFill>
                <a:srgbClr val="444444"/>
              </a:solidFill>
              <a:effectLst/>
              <a:highlight>
                <a:srgbClr val="FFFFFF"/>
              </a:highlight>
              <a:latin typeface="Lucida Grande" panose="020B06000405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How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big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is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our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training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set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? </a:t>
            </a:r>
          </a:p>
          <a:p>
            <a:pPr marL="171450" indent="-171450">
              <a:buFontTx/>
              <a:buChar char="-"/>
            </a:pP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How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much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are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training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? </a:t>
            </a:r>
          </a:p>
          <a:p>
            <a:pPr marL="171450" indent="-171450">
              <a:buFontTx/>
              <a:buChar char="-"/>
            </a:pPr>
            <a:endParaRPr lang="de-DE" b="0" i="0" u="none" strike="noStrike" dirty="0">
              <a:solidFill>
                <a:srgbClr val="444444"/>
              </a:solidFill>
              <a:effectLst/>
              <a:highlight>
                <a:srgbClr val="FFFFFF"/>
              </a:highlight>
              <a:latin typeface="Lucida Grande" panose="020B06000405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DF00EA8-A8C0-05DC-A2C0-72A9D3ACF0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226925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49D6B-6CF4-B6E3-12ED-316F70173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A9E6F152-81C6-BFF2-8BE3-7E26066A7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E28DE0DB-78CD-E32B-D816-20F9F47E54A1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pPr marL="171450" indent="-171450">
              <a:buFontTx/>
              <a:buChar char="-"/>
            </a:pP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https://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medium.com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/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towards-data-science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/what-are-stable-diffusion-models-and-why-are-they-a-step-forward-for-image-generation-aa1182801d46</a:t>
            </a:r>
          </a:p>
          <a:p>
            <a:pPr marL="171450" indent="-171450">
              <a:buFontTx/>
              <a:buChar char="-"/>
            </a:pP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The plan was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to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present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denoising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today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, so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what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is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actually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denoising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?! </a:t>
            </a:r>
          </a:p>
          <a:p>
            <a:pPr marL="171450" indent="-171450">
              <a:buFontTx/>
              <a:buChar char="-"/>
            </a:pP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Couple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of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words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with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examples</a:t>
            </a:r>
            <a:endParaRPr lang="de-DE" b="0" i="0" u="none" strike="noStrike" dirty="0">
              <a:solidFill>
                <a:srgbClr val="444444"/>
              </a:solidFill>
              <a:effectLst/>
              <a:highlight>
                <a:srgbClr val="FFFFFF"/>
              </a:highlight>
              <a:latin typeface="Lucida Grande" panose="020B06000405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How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big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is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our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training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set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? </a:t>
            </a:r>
          </a:p>
          <a:p>
            <a:pPr marL="171450" indent="-171450">
              <a:buFontTx/>
              <a:buChar char="-"/>
            </a:pP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How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much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are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training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? </a:t>
            </a:r>
          </a:p>
          <a:p>
            <a:pPr marL="171450" indent="-171450">
              <a:buFontTx/>
              <a:buChar char="-"/>
            </a:pPr>
            <a:endParaRPr lang="de-DE" b="0" i="0" u="none" strike="noStrike" dirty="0">
              <a:solidFill>
                <a:srgbClr val="444444"/>
              </a:solidFill>
              <a:effectLst/>
              <a:highlight>
                <a:srgbClr val="FFFFFF"/>
              </a:highlight>
              <a:latin typeface="Lucida Grande" panose="020B06000405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3F34618-90F6-0224-6116-EB8126CC2D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25285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BA2B1-EC29-09C7-0DB6-2FF0A2B98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61F726A2-BB2D-8ACD-0093-BE1472260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ADAB0283-FEF2-97B9-226D-009EAAE9BE74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pPr marL="171450" indent="-171450">
              <a:buFontTx/>
              <a:buChar char="-"/>
            </a:pP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https://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medium.com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/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towards-data-science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/what-are-stable-diffusion-models-and-why-are-they-a-step-forward-for-image-generation-aa1182801d46</a:t>
            </a:r>
          </a:p>
          <a:p>
            <a:pPr marL="171450" indent="-171450">
              <a:buFontTx/>
              <a:buChar char="-"/>
            </a:pP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The plan was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to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present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denoising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today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, so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what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is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actually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denoising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?! </a:t>
            </a:r>
          </a:p>
          <a:p>
            <a:pPr marL="171450" indent="-171450">
              <a:buFontTx/>
              <a:buChar char="-"/>
            </a:pP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Couple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of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words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with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examples</a:t>
            </a:r>
            <a:endParaRPr lang="de-DE" b="0" i="0" u="none" strike="noStrike" dirty="0">
              <a:solidFill>
                <a:srgbClr val="444444"/>
              </a:solidFill>
              <a:effectLst/>
              <a:highlight>
                <a:srgbClr val="FFFFFF"/>
              </a:highlight>
              <a:latin typeface="Lucida Grande" panose="020B06000405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How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big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is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our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training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set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? </a:t>
            </a:r>
          </a:p>
          <a:p>
            <a:pPr marL="171450" indent="-171450">
              <a:buFontTx/>
              <a:buChar char="-"/>
            </a:pP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How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much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are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training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? </a:t>
            </a:r>
          </a:p>
          <a:p>
            <a:pPr marL="171450" indent="-171450">
              <a:buFontTx/>
              <a:buChar char="-"/>
            </a:pPr>
            <a:endParaRPr lang="de-DE" b="0" i="0" u="none" strike="noStrike" dirty="0">
              <a:solidFill>
                <a:srgbClr val="444444"/>
              </a:solidFill>
              <a:effectLst/>
              <a:highlight>
                <a:srgbClr val="FFFFFF"/>
              </a:highlight>
              <a:latin typeface="Lucida Grande" panose="020B06000405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2EDE055-22F9-DB90-2CD4-10F8791D14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633467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B426E-EDBB-5E42-3986-9A3B1CE87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BAAAB838-AAE4-CE6F-F45E-BB64D500A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80AA1F04-EDD5-87C6-EC8E-141A1E8E5280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pPr marL="171450" indent="-171450">
              <a:buFontTx/>
              <a:buChar char="-"/>
            </a:pP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https://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medium.com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/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towards-data-science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/what-are-stable-diffusion-models-and-why-are-they-a-step-forward-for-image-generation-aa1182801d46</a:t>
            </a:r>
          </a:p>
          <a:p>
            <a:pPr marL="171450" indent="-171450">
              <a:buFontTx/>
              <a:buChar char="-"/>
            </a:pP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The plan was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to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present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denoising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today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, so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what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is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actually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denoising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?! </a:t>
            </a:r>
          </a:p>
          <a:p>
            <a:pPr marL="171450" indent="-171450">
              <a:buFontTx/>
              <a:buChar char="-"/>
            </a:pP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Couple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of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words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with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examples</a:t>
            </a:r>
            <a:endParaRPr lang="de-DE" b="0" i="0" u="none" strike="noStrike" dirty="0">
              <a:solidFill>
                <a:srgbClr val="444444"/>
              </a:solidFill>
              <a:effectLst/>
              <a:highlight>
                <a:srgbClr val="FFFFFF"/>
              </a:highlight>
              <a:latin typeface="Lucida Grande" panose="020B06000405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How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big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is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our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training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set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? </a:t>
            </a:r>
          </a:p>
          <a:p>
            <a:pPr marL="171450" indent="-171450">
              <a:buFontTx/>
              <a:buChar char="-"/>
            </a:pP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How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much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are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training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? </a:t>
            </a:r>
          </a:p>
          <a:p>
            <a:pPr marL="171450" indent="-171450">
              <a:buFontTx/>
              <a:buChar char="-"/>
            </a:pPr>
            <a:endParaRPr lang="de-DE" b="0" i="0" u="none" strike="noStrike" dirty="0">
              <a:solidFill>
                <a:srgbClr val="444444"/>
              </a:solidFill>
              <a:effectLst/>
              <a:highlight>
                <a:srgbClr val="FFFFFF"/>
              </a:highlight>
              <a:latin typeface="Lucida Grande" panose="020B06000405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F1FB166-4194-79D0-E42D-8D334E5A0F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60941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D99E5-0222-B435-0B62-429FDF4E9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4032979A-6E19-0970-52C5-8D7A32A89D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E9AE8151-E72C-48F5-D187-DBC5D6E5A8C1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pPr marL="171450" indent="-171450">
              <a:buFontTx/>
              <a:buChar char="-"/>
            </a:pP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https://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medium.com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/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towards-data-science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/what-are-stable-diffusion-models-and-why-are-they-a-step-forward-for-image-generation-aa1182801d46</a:t>
            </a:r>
          </a:p>
          <a:p>
            <a:pPr marL="171450" indent="-171450">
              <a:buFontTx/>
              <a:buChar char="-"/>
            </a:pP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The plan was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to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present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denoising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today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, so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what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is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actually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denoising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?! </a:t>
            </a:r>
          </a:p>
          <a:p>
            <a:pPr marL="171450" indent="-171450">
              <a:buFontTx/>
              <a:buChar char="-"/>
            </a:pP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Couple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of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words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with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examples</a:t>
            </a:r>
            <a:endParaRPr lang="de-DE" b="0" i="0" u="none" strike="noStrike" dirty="0">
              <a:solidFill>
                <a:srgbClr val="444444"/>
              </a:solidFill>
              <a:effectLst/>
              <a:highlight>
                <a:srgbClr val="FFFFFF"/>
              </a:highlight>
              <a:latin typeface="Lucida Grande" panose="020B06000405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How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big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is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our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training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set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? </a:t>
            </a:r>
          </a:p>
          <a:p>
            <a:pPr marL="171450" indent="-171450">
              <a:buFontTx/>
              <a:buChar char="-"/>
            </a:pP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How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much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are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training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? </a:t>
            </a:r>
          </a:p>
          <a:p>
            <a:pPr marL="171450" indent="-171450">
              <a:buFontTx/>
              <a:buChar char="-"/>
            </a:pPr>
            <a:endParaRPr lang="de-DE" b="0" i="0" u="none" strike="noStrike" dirty="0">
              <a:solidFill>
                <a:srgbClr val="444444"/>
              </a:solidFill>
              <a:effectLst/>
              <a:highlight>
                <a:srgbClr val="FFFFFF"/>
              </a:highlight>
              <a:latin typeface="Lucida Grande" panose="020B06000405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316307B-AB0C-C937-CFE8-728BBAB822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484966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E5900-A8C2-2251-81B5-FAE3032F0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65C60FF7-C542-A1E8-CA32-96B4ED838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4A59E9D4-96D1-650F-C921-124BDB14FE68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pPr marL="171450" indent="-171450">
              <a:buFontTx/>
              <a:buChar char="-"/>
            </a:pP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https://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medium.com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/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towards-data-science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/what-are-stable-diffusion-models-and-why-are-they-a-step-forward-for-image-generation-aa1182801d46</a:t>
            </a:r>
          </a:p>
          <a:p>
            <a:pPr marL="171450" indent="-171450">
              <a:buFontTx/>
              <a:buChar char="-"/>
            </a:pP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The plan was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to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present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denoising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today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, so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what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is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actually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denoising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?! </a:t>
            </a:r>
          </a:p>
          <a:p>
            <a:pPr marL="171450" indent="-171450">
              <a:buFontTx/>
              <a:buChar char="-"/>
            </a:pP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Couple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of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words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with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examples</a:t>
            </a:r>
            <a:endParaRPr lang="de-DE" b="0" i="0" u="none" strike="noStrike" dirty="0">
              <a:solidFill>
                <a:srgbClr val="444444"/>
              </a:solidFill>
              <a:effectLst/>
              <a:highlight>
                <a:srgbClr val="FFFFFF"/>
              </a:highlight>
              <a:latin typeface="Lucida Grande" panose="020B06000405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How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big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is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our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training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set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? </a:t>
            </a:r>
          </a:p>
          <a:p>
            <a:pPr marL="171450" indent="-171450">
              <a:buFontTx/>
              <a:buChar char="-"/>
            </a:pP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How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much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we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are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training</a:t>
            </a:r>
            <a:r>
              <a:rPr lang="de-DE" b="0" i="0" u="none" strike="noStrik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Lucida Grande" panose="020B0600040502020204" pitchFamily="34" charset="0"/>
              </a:rPr>
              <a:t>? </a:t>
            </a:r>
          </a:p>
          <a:p>
            <a:pPr marL="171450" indent="-171450">
              <a:buFontTx/>
              <a:buChar char="-"/>
            </a:pPr>
            <a:endParaRPr lang="de-DE" b="0" i="0" u="none" strike="noStrike" dirty="0">
              <a:solidFill>
                <a:srgbClr val="444444"/>
              </a:solidFill>
              <a:effectLst/>
              <a:highlight>
                <a:srgbClr val="FFFFFF"/>
              </a:highlight>
              <a:latin typeface="Lucida Grande" panose="020B06000405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066C01B-8ADD-641A-F08A-945844BA14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5641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gray">
          <a:xfrm>
            <a:off x="7128284" y="203047"/>
            <a:ext cx="2015716" cy="1180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de-DE" dirty="0"/>
              <a:t>Insert </a:t>
            </a:r>
            <a:r>
              <a:rPr lang="de-DE" dirty="0" err="1"/>
              <a:t>picture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Presentationtitle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_ Small Tex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 userDrawn="1"/>
        </p:nvSpPr>
        <p:spPr bwMode="gray">
          <a:xfrm>
            <a:off x="7128284" y="203047"/>
            <a:ext cx="2015716" cy="1180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de-DE" dirty="0"/>
              <a:t>Insert </a:t>
            </a:r>
            <a:r>
              <a:rPr lang="de-DE" dirty="0" err="1"/>
              <a:t>picture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Presentationtitle</a:t>
            </a:r>
            <a:br>
              <a:rPr lang="en-US" dirty="0"/>
            </a:br>
            <a:r>
              <a:rPr lang="en-US" dirty="0"/>
              <a:t>up to maximum</a:t>
            </a:r>
            <a:br>
              <a:rPr lang="en-US" dirty="0"/>
            </a:br>
            <a:r>
              <a:rPr lang="en-US" dirty="0"/>
              <a:t>2 lines</a:t>
            </a:r>
          </a:p>
        </p:txBody>
      </p:sp>
      <p:pic>
        <p:nvPicPr>
          <p:cNvPr id="3" name="Grafik 2" descr="Ein Bild, das Schrift, Grafiken, Grafikdesign, Screenshot enthält.&#10;&#10;Automatisch generierte Beschreibung">
            <a:extLst>
              <a:ext uri="{FF2B5EF4-FFF2-40B4-BE49-F238E27FC236}">
                <a16:creationId xmlns:a16="http://schemas.microsoft.com/office/drawing/2014/main" id="{7A0F2C0C-931F-253F-E5E0-2498B32410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002" y="433466"/>
            <a:ext cx="1964766" cy="49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/>
          <p:cNvSpPr/>
          <p:nvPr userDrawn="1"/>
        </p:nvSpPr>
        <p:spPr bwMode="gray">
          <a:xfrm>
            <a:off x="7128284" y="203047"/>
            <a:ext cx="2015716" cy="1180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de-DE" dirty="0"/>
              <a:t>Insert </a:t>
            </a:r>
            <a:r>
              <a:rPr lang="de-DE" dirty="0" err="1"/>
              <a:t>picture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Presentationtitle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  <p:pic>
        <p:nvPicPr>
          <p:cNvPr id="3" name="Grafik 2" descr="Ein Bild, das Schrift, Grafiken, Grafikdesign, Screenshot enthält.&#10;&#10;Automatisch generierte Beschreibung">
            <a:extLst>
              <a:ext uri="{FF2B5EF4-FFF2-40B4-BE49-F238E27FC236}">
                <a16:creationId xmlns:a16="http://schemas.microsoft.com/office/drawing/2014/main" id="{C7916878-4C42-FE30-73E0-EC09711535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002" y="433466"/>
            <a:ext cx="1964766" cy="49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range _ Small Tex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 userDrawn="1"/>
        </p:nvSpPr>
        <p:spPr bwMode="gray">
          <a:xfrm>
            <a:off x="7128284" y="203047"/>
            <a:ext cx="2015716" cy="1180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de-DE" dirty="0"/>
              <a:t>Insert </a:t>
            </a:r>
            <a:r>
              <a:rPr lang="de-DE" dirty="0" err="1"/>
              <a:t>picture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Presentationtitle</a:t>
            </a:r>
            <a:br>
              <a:rPr lang="en-US" dirty="0"/>
            </a:br>
            <a:r>
              <a:rPr lang="en-US" dirty="0"/>
              <a:t>up to maximum</a:t>
            </a:r>
            <a:br>
              <a:rPr lang="en-US" dirty="0"/>
            </a:br>
            <a:r>
              <a:rPr lang="en-US" dirty="0"/>
              <a:t>2 lines</a:t>
            </a:r>
          </a:p>
        </p:txBody>
      </p:sp>
      <p:pic>
        <p:nvPicPr>
          <p:cNvPr id="3" name="Grafik 2" descr="Ein Bild, das Schrift, Grafiken, Grafikdesign, Screenshot enthält.&#10;&#10;Automatisch generierte Beschreibung">
            <a:extLst>
              <a:ext uri="{FF2B5EF4-FFF2-40B4-BE49-F238E27FC236}">
                <a16:creationId xmlns:a16="http://schemas.microsoft.com/office/drawing/2014/main" id="{FE479EE7-0F65-0502-4516-27C73CA0D0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002" y="433466"/>
            <a:ext cx="1964766" cy="49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8775" y="1239838"/>
            <a:ext cx="6877050" cy="3563938"/>
          </a:xfr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Write </a:t>
            </a:r>
            <a:r>
              <a:rPr lang="de-DE" dirty="0" err="1"/>
              <a:t>your</a:t>
            </a:r>
            <a:r>
              <a:rPr lang="de-DE" dirty="0"/>
              <a:t> title</a:t>
            </a:r>
            <a:br>
              <a:rPr lang="de-DE" dirty="0"/>
            </a:br>
            <a:r>
              <a:rPr lang="de-DE" dirty="0"/>
              <a:t>- </a:t>
            </a:r>
            <a:r>
              <a:rPr lang="de-DE" dirty="0" err="1"/>
              <a:t>maximum</a:t>
            </a:r>
            <a:r>
              <a:rPr lang="de-DE" dirty="0"/>
              <a:t> 2 </a:t>
            </a:r>
            <a:r>
              <a:rPr lang="de-DE" dirty="0" err="1"/>
              <a:t>lines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Speaker, Job Description, Date if needed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US"/>
              <a:t>Chart </a:t>
            </a:r>
            <a:fld id="{91D913BA-B0D8-4B51-9328-DFAA0B370309}" type="slidenum">
              <a:rPr lang="en-US" b="1" smtClean="0"/>
              <a:pPr/>
              <a:t>‹Nr.›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 bwMode="gray"/>
        <p:txBody>
          <a:bodyPr/>
          <a:lstStyle>
            <a:lvl5pPr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Write </a:t>
            </a:r>
            <a:r>
              <a:rPr lang="de-DE" dirty="0" err="1"/>
              <a:t>your</a:t>
            </a:r>
            <a:r>
              <a:rPr lang="de-DE" dirty="0"/>
              <a:t> title</a:t>
            </a:r>
            <a:br>
              <a:rPr lang="de-DE" dirty="0"/>
            </a:br>
            <a:r>
              <a:rPr lang="de-DE" dirty="0"/>
              <a:t>- </a:t>
            </a:r>
            <a:r>
              <a:rPr lang="de-DE" dirty="0" err="1"/>
              <a:t>maximum</a:t>
            </a:r>
            <a:r>
              <a:rPr lang="de-DE" dirty="0"/>
              <a:t> 2 </a:t>
            </a:r>
            <a:r>
              <a:rPr lang="de-DE" dirty="0" err="1"/>
              <a:t>lines</a:t>
            </a:r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Speaker, Job Description, Date if needed</a:t>
            </a:r>
            <a:endParaRPr lang="en-US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Chart </a:t>
            </a:r>
            <a:fld id="{91D913BA-B0D8-4B51-9328-DFAA0B370309}" type="slidenum">
              <a:rPr lang="en-US" b="1" smtClean="0"/>
              <a:pPr/>
              <a:t>‹Nr.›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Bullet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Speaker, Job Description, Date if needed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Chart </a:t>
            </a:r>
            <a:fld id="{91D913BA-B0D8-4B51-9328-DFAA0B370309}" type="slidenum">
              <a:rPr lang="en-US" b="1" smtClean="0"/>
              <a:pPr/>
              <a:t>‹Nr.›</a:t>
            </a:fld>
            <a:endParaRPr lang="en-US" b="1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Write </a:t>
            </a:r>
            <a:r>
              <a:rPr lang="de-DE" dirty="0" err="1"/>
              <a:t>your</a:t>
            </a:r>
            <a:r>
              <a:rPr lang="de-DE" dirty="0"/>
              <a:t> title</a:t>
            </a:r>
            <a:br>
              <a:rPr lang="de-DE" dirty="0"/>
            </a:br>
            <a:r>
              <a:rPr lang="de-DE" dirty="0"/>
              <a:t>- </a:t>
            </a:r>
            <a:r>
              <a:rPr lang="de-DE" dirty="0" err="1"/>
              <a:t>maximum</a:t>
            </a:r>
            <a:r>
              <a:rPr lang="de-DE" dirty="0"/>
              <a:t> 2 </a:t>
            </a:r>
            <a:r>
              <a:rPr lang="de-DE" dirty="0" err="1"/>
              <a:t>lines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5" y="1239837"/>
            <a:ext cx="3349625" cy="35639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3886201" y="1239837"/>
            <a:ext cx="3349625" cy="35639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Speaker, Job Description, Date if needed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dirty="0"/>
              <a:t>Chart </a:t>
            </a:r>
            <a:fld id="{91D913BA-B0D8-4B51-9328-DFAA0B370309}" type="slidenum">
              <a:rPr lang="en-US" b="1" smtClean="0"/>
              <a:pPr/>
              <a:t>‹Nr.›</a:t>
            </a:fld>
            <a:endParaRPr lang="en-US" b="1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Write </a:t>
            </a:r>
            <a:r>
              <a:rPr lang="de-DE" dirty="0" err="1"/>
              <a:t>your</a:t>
            </a:r>
            <a:r>
              <a:rPr lang="de-DE" dirty="0"/>
              <a:t> title</a:t>
            </a:r>
            <a:br>
              <a:rPr lang="de-DE" dirty="0"/>
            </a:br>
            <a:r>
              <a:rPr lang="de-DE" dirty="0"/>
              <a:t>- </a:t>
            </a:r>
            <a:r>
              <a:rPr lang="de-DE" dirty="0" err="1"/>
              <a:t>maximum</a:t>
            </a:r>
            <a:r>
              <a:rPr lang="de-DE" dirty="0"/>
              <a:t> 2 </a:t>
            </a:r>
            <a:r>
              <a:rPr lang="de-DE" dirty="0" err="1"/>
              <a:t>lines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x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Speaker, Job Description, Date if needed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r>
              <a:rPr lang="en-US"/>
              <a:t>Chart </a:t>
            </a:r>
            <a:fld id="{91D913BA-B0D8-4B51-9328-DFAA0B370309}" type="slidenum">
              <a:rPr lang="en-US" b="1" smtClean="0"/>
              <a:pPr/>
              <a:t>‹Nr.›</a:t>
            </a:fld>
            <a:endParaRPr lang="en-US" b="1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Write </a:t>
            </a:r>
            <a:r>
              <a:rPr lang="de-DE" dirty="0" err="1"/>
              <a:t>your</a:t>
            </a:r>
            <a:r>
              <a:rPr lang="de-DE" dirty="0"/>
              <a:t> title</a:t>
            </a:r>
            <a:br>
              <a:rPr lang="de-DE" dirty="0"/>
            </a:br>
            <a:r>
              <a:rPr lang="de-DE" dirty="0"/>
              <a:t>- </a:t>
            </a:r>
            <a:r>
              <a:rPr lang="de-DE" dirty="0" err="1"/>
              <a:t>maximum</a:t>
            </a:r>
            <a:r>
              <a:rPr lang="de-DE" dirty="0"/>
              <a:t> 2 </a:t>
            </a:r>
            <a:r>
              <a:rPr lang="de-DE" dirty="0" err="1"/>
              <a:t>lines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x Text (Box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</p:spPr>
        <p:txBody>
          <a:bodyPr t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Topic 4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US"/>
              <a:t>Speaker, Job Description, Date if needed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r>
              <a:rPr lang="en-US"/>
              <a:t>Chart </a:t>
            </a:r>
            <a:fld id="{91D913BA-B0D8-4B51-9328-DFAA0B370309}" type="slidenum">
              <a:rPr lang="en-US" b="1" smtClean="0"/>
              <a:pPr/>
              <a:t>‹Nr.›</a:t>
            </a:fld>
            <a:endParaRPr lang="en-US" b="1" dirty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Write </a:t>
            </a:r>
            <a:r>
              <a:rPr lang="de-DE" dirty="0" err="1"/>
              <a:t>your</a:t>
            </a:r>
            <a:r>
              <a:rPr lang="de-DE" dirty="0"/>
              <a:t> title</a:t>
            </a:r>
            <a:br>
              <a:rPr lang="de-DE" dirty="0"/>
            </a:br>
            <a:r>
              <a:rPr lang="de-DE" dirty="0"/>
              <a:t>- </a:t>
            </a:r>
            <a:r>
              <a:rPr lang="de-DE" dirty="0" err="1"/>
              <a:t>maximum</a:t>
            </a:r>
            <a:r>
              <a:rPr lang="de-DE" dirty="0"/>
              <a:t> 2 </a:t>
            </a:r>
            <a:r>
              <a:rPr lang="de-DE" dirty="0" err="1"/>
              <a:t>lines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ture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de-DE" dirty="0"/>
              <a:t>Insert </a:t>
            </a:r>
            <a:r>
              <a:rPr lang="de-DE" dirty="0" err="1"/>
              <a:t>picture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Speaker, Job Description, Date if needed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Chart </a:t>
            </a:r>
            <a:fld id="{91D913BA-B0D8-4B51-9328-DFAA0B370309}" type="slidenum">
              <a:rPr lang="en-US" b="1" smtClean="0"/>
              <a:pPr/>
              <a:t>‹Nr.›</a:t>
            </a:fld>
            <a:endParaRPr lang="en-US" b="1" dirty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Write </a:t>
            </a:r>
            <a:r>
              <a:rPr lang="de-DE" dirty="0" err="1"/>
              <a:t>your</a:t>
            </a:r>
            <a:r>
              <a:rPr lang="de-DE" dirty="0"/>
              <a:t> title</a:t>
            </a:r>
            <a:br>
              <a:rPr lang="de-DE" dirty="0"/>
            </a:br>
            <a:r>
              <a:rPr lang="de-DE" dirty="0"/>
              <a:t>- </a:t>
            </a:r>
            <a:r>
              <a:rPr lang="de-DE" dirty="0" err="1"/>
              <a:t>maximum</a:t>
            </a:r>
            <a:r>
              <a:rPr lang="de-DE" dirty="0"/>
              <a:t> 2 </a:t>
            </a:r>
            <a:r>
              <a:rPr lang="de-DE" dirty="0" err="1"/>
              <a:t>lines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ture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de-DE" dirty="0"/>
              <a:t>Insert </a:t>
            </a:r>
            <a:r>
              <a:rPr lang="de-DE" dirty="0" err="1"/>
              <a:t>picture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Speaker, Job Description, Date if needed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Chart </a:t>
            </a:r>
            <a:fld id="{91D913BA-B0D8-4B51-9328-DFAA0B370309}" type="slidenum">
              <a:rPr lang="en-US" b="1" smtClean="0"/>
              <a:pPr/>
              <a:t>‹Nr.›</a:t>
            </a:fld>
            <a:endParaRPr lang="en-US" b="1" dirty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Write </a:t>
            </a:r>
            <a:r>
              <a:rPr lang="de-DE" dirty="0" err="1"/>
              <a:t>your</a:t>
            </a:r>
            <a:r>
              <a:rPr lang="de-DE" dirty="0"/>
              <a:t> title</a:t>
            </a:r>
            <a:br>
              <a:rPr lang="de-DE" dirty="0"/>
            </a:br>
            <a:r>
              <a:rPr lang="de-DE" dirty="0"/>
              <a:t>- </a:t>
            </a:r>
            <a:r>
              <a:rPr lang="de-DE" dirty="0" err="1"/>
              <a:t>maximum</a:t>
            </a:r>
            <a:r>
              <a:rPr lang="de-DE" dirty="0"/>
              <a:t> 2 </a:t>
            </a:r>
            <a:r>
              <a:rPr lang="de-DE" dirty="0" err="1"/>
              <a:t>lines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ture 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de-DE" dirty="0"/>
              <a:t>Insert </a:t>
            </a:r>
            <a:r>
              <a:rPr lang="de-DE" dirty="0" err="1"/>
              <a:t>picture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Speaker, Job Description, Date if needed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Chart </a:t>
            </a:r>
            <a:fld id="{91D913BA-B0D8-4B51-9328-DFAA0B370309}" type="slidenum">
              <a:rPr lang="en-US" b="1" smtClean="0"/>
              <a:pPr/>
              <a:t>‹Nr.›</a:t>
            </a:fld>
            <a:endParaRPr lang="en-US" b="1" dirty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Write </a:t>
            </a:r>
            <a:r>
              <a:rPr lang="de-DE" dirty="0" err="1"/>
              <a:t>your</a:t>
            </a:r>
            <a:r>
              <a:rPr lang="de-DE" dirty="0"/>
              <a:t> title</a:t>
            </a:r>
            <a:br>
              <a:rPr lang="de-DE" dirty="0"/>
            </a:br>
            <a:r>
              <a:rPr lang="de-DE" dirty="0"/>
              <a:t>- </a:t>
            </a:r>
            <a:r>
              <a:rPr lang="de-DE" dirty="0" err="1"/>
              <a:t>maximum</a:t>
            </a:r>
            <a:r>
              <a:rPr lang="de-DE" dirty="0"/>
              <a:t> 2 </a:t>
            </a:r>
            <a:r>
              <a:rPr lang="de-DE" dirty="0" err="1"/>
              <a:t>lines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XL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237412" cy="3563937"/>
          </a:xfr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de-DE" dirty="0"/>
              <a:t>Insert </a:t>
            </a:r>
            <a:r>
              <a:rPr lang="de-DE" dirty="0" err="1"/>
              <a:t>picture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Speaker, Job Description, Date if needed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Chart </a:t>
            </a:r>
            <a:fld id="{91D913BA-B0D8-4B51-9328-DFAA0B370309}" type="slidenum">
              <a:rPr lang="en-US" b="1" smtClean="0"/>
              <a:pPr/>
              <a:t>‹Nr.›</a:t>
            </a:fld>
            <a:endParaRPr lang="en-US" b="1" dirty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Write </a:t>
            </a:r>
            <a:r>
              <a:rPr lang="de-DE" dirty="0" err="1"/>
              <a:t>your</a:t>
            </a:r>
            <a:r>
              <a:rPr lang="de-DE" dirty="0"/>
              <a:t> title</a:t>
            </a:r>
            <a:br>
              <a:rPr lang="de-DE" dirty="0"/>
            </a:br>
            <a:r>
              <a:rPr lang="de-DE" dirty="0"/>
              <a:t>- </a:t>
            </a:r>
            <a:r>
              <a:rPr lang="de-DE" dirty="0" err="1"/>
              <a:t>maximum</a:t>
            </a:r>
            <a:r>
              <a:rPr lang="de-DE" dirty="0"/>
              <a:t> 2 </a:t>
            </a:r>
            <a:r>
              <a:rPr lang="de-DE" dirty="0" err="1"/>
              <a:t>lines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Presentationtitle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de-DE" dirty="0"/>
              <a:t>Write </a:t>
            </a:r>
            <a:r>
              <a:rPr lang="de-DE" dirty="0" err="1"/>
              <a:t>your</a:t>
            </a:r>
            <a:r>
              <a:rPr lang="de-DE" dirty="0"/>
              <a:t> title</a:t>
            </a:r>
            <a:br>
              <a:rPr lang="de-DE" dirty="0"/>
            </a:br>
            <a:r>
              <a:rPr lang="de-DE" dirty="0"/>
              <a:t>- </a:t>
            </a:r>
            <a:r>
              <a:rPr lang="de-DE" dirty="0" err="1"/>
              <a:t>maximum</a:t>
            </a:r>
            <a:r>
              <a:rPr lang="de-DE" dirty="0"/>
              <a:t> 2 </a:t>
            </a:r>
            <a:r>
              <a:rPr lang="de-DE" dirty="0" err="1"/>
              <a:t>lines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 vert="horz" lIns="0" tIns="72000" rIns="0" bIns="0" rtlCol="0" anchor="t" anchorCtr="0">
            <a:no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7416801" y="4155928"/>
            <a:ext cx="1547813" cy="467268"/>
          </a:xfrm>
          <a:prstGeom prst="rect">
            <a:avLst/>
          </a:prstGeom>
        </p:spPr>
        <p:txBody>
          <a:bodyPr vert="horz" lIns="108000" tIns="0" rIns="0" bIns="0" rtlCol="0" anchor="t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Speaker, Job Description, Date if needed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7416801" y="3562453"/>
            <a:ext cx="1547813" cy="521465"/>
          </a:xfrm>
          <a:prstGeom prst="rect">
            <a:avLst/>
          </a:prstGeom>
        </p:spPr>
        <p:txBody>
          <a:bodyPr vert="horz" lIns="108000" tIns="0" rIns="0" bIns="0" rtlCol="0" anchor="b"/>
          <a:lstStyle>
            <a:lvl1pPr algn="l">
              <a:defRPr sz="1050" b="1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416801" y="4623195"/>
            <a:ext cx="1547813" cy="180580"/>
          </a:xfrm>
          <a:prstGeom prst="rect">
            <a:avLst/>
          </a:prstGeom>
        </p:spPr>
        <p:txBody>
          <a:bodyPr vert="horz" lIns="108000" tIns="0" rIns="0" bIns="0" rtlCol="0" anchor="b"/>
          <a:lstStyle>
            <a:lvl1pPr algn="l">
              <a:defRPr sz="105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Chart </a:t>
            </a:r>
            <a:fld id="{91D913BA-B0D8-4B51-9328-DFAA0B370309}" type="slidenum">
              <a:rPr lang="en-US" b="1" smtClean="0"/>
              <a:pPr/>
              <a:t>‹Nr.›</a:t>
            </a:fld>
            <a:endParaRPr lang="en-US" b="1" dirty="0"/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3" r:id="rId15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22C40-5939-3203-7BF2-CAAFF6640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7" name="Title 6156">
            <a:extLst>
              <a:ext uri="{FF2B5EF4-FFF2-40B4-BE49-F238E27FC236}">
                <a16:creationId xmlns:a16="http://schemas.microsoft.com/office/drawing/2014/main" id="{3DE8C067-C5B9-0B17-28FA-575686A26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/>
          <a:lstStyle/>
          <a:p>
            <a:r>
              <a:rPr lang="de-DE" dirty="0" err="1"/>
              <a:t>Results</a:t>
            </a:r>
            <a:endParaRPr lang="en-US" dirty="0"/>
          </a:p>
        </p:txBody>
      </p:sp>
      <p:sp>
        <p:nvSpPr>
          <p:cNvPr id="6163" name="Slide Number Placeholder 6162">
            <a:extLst>
              <a:ext uri="{FF2B5EF4-FFF2-40B4-BE49-F238E27FC236}">
                <a16:creationId xmlns:a16="http://schemas.microsoft.com/office/drawing/2014/main" id="{2FEDB557-81E4-FA01-B71F-8D513222806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416801" y="4623195"/>
            <a:ext cx="1547813" cy="180580"/>
          </a:xfrm>
        </p:spPr>
        <p:txBody>
          <a:bodyPr/>
          <a:lstStyle/>
          <a:p>
            <a:r>
              <a:rPr lang="en-US" dirty="0"/>
              <a:t>Chart </a:t>
            </a:r>
            <a:fld id="{91D913BA-B0D8-4B51-9328-DFAA0B370309}" type="slidenum">
              <a:rPr lang="en-US" b="1" smtClean="0"/>
              <a:pPr/>
              <a:t>1</a:t>
            </a:fld>
            <a:endParaRPr lang="en-US" b="1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47FB3B-5AB4-4985-0F3C-032A3805F45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416801" y="4155928"/>
            <a:ext cx="1547813" cy="46726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E617BD-AB49-5FF0-39A1-AFA34AA610C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416801" y="3562453"/>
            <a:ext cx="1547813" cy="521465"/>
          </a:xfrm>
        </p:spPr>
        <p:txBody>
          <a:bodyPr/>
          <a:lstStyle/>
          <a:p>
            <a:r>
              <a:rPr lang="en-US" dirty="0" err="1"/>
              <a:t>RapCluster</a:t>
            </a:r>
            <a:endParaRPr lang="en-US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C40F2FED-D65C-8EB4-5211-4B24BDA63114}"/>
              </a:ext>
            </a:extLst>
          </p:cNvPr>
          <p:cNvSpPr txBox="1"/>
          <p:nvPr/>
        </p:nvSpPr>
        <p:spPr bwMode="gray">
          <a:xfrm>
            <a:off x="323402" y="699542"/>
            <a:ext cx="6336704" cy="21426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/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endParaRPr lang="de-DE" sz="1200" dirty="0"/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r>
              <a:rPr lang="en-US" sz="1200" dirty="0"/>
              <a:t>For each article</a:t>
            </a:r>
            <a:r>
              <a:rPr lang="en-US" sz="1200"/>
              <a:t>, we </a:t>
            </a:r>
            <a:r>
              <a:rPr lang="en-US" sz="1200" dirty="0"/>
              <a:t>run all regex in DEFAULT_PATTERNS["algorithm"] on the article body text.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r>
              <a:rPr lang="en-US" sz="1200" dirty="0"/>
              <a:t>If at least one of those regex matches anywhere in the text, then that article is counted as having an algorithm match.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r>
              <a:rPr lang="en-US" sz="1200" dirty="0"/>
              <a:t>The yearly metric is the number of such articles in that year.</a:t>
            </a:r>
            <a:endParaRPr lang="de-DE" sz="1200" dirty="0"/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/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endParaRPr lang="de-DE" sz="1200" dirty="0"/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b="1" dirty="0">
              <a:solidFill>
                <a:schemeClr val="accent1"/>
              </a:solidFill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>
              <a:solidFill>
                <a:srgbClr val="00B050"/>
              </a:solidFill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>
              <a:solidFill>
                <a:srgbClr val="00B050"/>
              </a:solidFill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/>
          </a:p>
        </p:txBody>
      </p:sp>
      <p:pic>
        <p:nvPicPr>
          <p:cNvPr id="7" name="Grafik 6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FBE47170-9A44-0D1D-889B-3C0D8DA52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35" y="2607232"/>
            <a:ext cx="5268060" cy="229584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282DDA9-50E5-2177-4D10-CB1BBE2BA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120" y="2228392"/>
            <a:ext cx="3398379" cy="37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69416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99B7F-4B71-BF6B-6CD7-F6BEC9803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7" name="Title 6156">
            <a:extLst>
              <a:ext uri="{FF2B5EF4-FFF2-40B4-BE49-F238E27FC236}">
                <a16:creationId xmlns:a16="http://schemas.microsoft.com/office/drawing/2014/main" id="{A24FE201-AA43-1937-04B7-FACA8BD33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/>
          <a:lstStyle/>
          <a:p>
            <a:r>
              <a:rPr lang="de-DE" dirty="0" err="1"/>
              <a:t>Results</a:t>
            </a:r>
            <a:endParaRPr lang="en-US" dirty="0"/>
          </a:p>
        </p:txBody>
      </p:sp>
      <p:sp>
        <p:nvSpPr>
          <p:cNvPr id="6163" name="Slide Number Placeholder 6162">
            <a:extLst>
              <a:ext uri="{FF2B5EF4-FFF2-40B4-BE49-F238E27FC236}">
                <a16:creationId xmlns:a16="http://schemas.microsoft.com/office/drawing/2014/main" id="{66A7BBD3-C7A5-FB42-7331-B9BE6EF2368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416801" y="4623195"/>
            <a:ext cx="1547813" cy="180580"/>
          </a:xfrm>
        </p:spPr>
        <p:txBody>
          <a:bodyPr/>
          <a:lstStyle/>
          <a:p>
            <a:r>
              <a:rPr lang="en-US" dirty="0"/>
              <a:t>Chart </a:t>
            </a:r>
            <a:fld id="{91D913BA-B0D8-4B51-9328-DFAA0B370309}" type="slidenum">
              <a:rPr lang="en-US" b="1" smtClean="0"/>
              <a:pPr/>
              <a:t>2</a:t>
            </a:fld>
            <a:endParaRPr lang="en-US" b="1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E03686-67D6-5CA2-A6A2-C317EC472A4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416801" y="4155928"/>
            <a:ext cx="1547813" cy="46726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4DC9F-32CF-4D7C-E15F-F6DD7F91628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416801" y="3562453"/>
            <a:ext cx="1547813" cy="521465"/>
          </a:xfrm>
        </p:spPr>
        <p:txBody>
          <a:bodyPr/>
          <a:lstStyle/>
          <a:p>
            <a:r>
              <a:rPr lang="en-US" dirty="0" err="1"/>
              <a:t>RapCluster</a:t>
            </a:r>
            <a:endParaRPr lang="en-US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BA6F85C2-5AE3-8106-DE7C-637FC8D5DC77}"/>
              </a:ext>
            </a:extLst>
          </p:cNvPr>
          <p:cNvSpPr txBox="1"/>
          <p:nvPr/>
        </p:nvSpPr>
        <p:spPr bwMode="gray">
          <a:xfrm>
            <a:off x="323402" y="699542"/>
            <a:ext cx="6336704" cy="21426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/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endParaRPr lang="de-DE" sz="1200" dirty="0"/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r>
              <a:rPr lang="en-US" sz="1200" dirty="0"/>
              <a:t>the percent of articles in that year where at least one regex in DEFAULT_PATTERNS["algorithm"] matched the article body text.</a:t>
            </a:r>
            <a:endParaRPr lang="de-DE" sz="1200" dirty="0"/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endParaRPr lang="de-DE" sz="1200" dirty="0"/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b="1" dirty="0">
              <a:solidFill>
                <a:schemeClr val="accent1"/>
              </a:solidFill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>
              <a:solidFill>
                <a:srgbClr val="00B050"/>
              </a:solidFill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>
              <a:solidFill>
                <a:srgbClr val="00B050"/>
              </a:solidFill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/>
          </a:p>
        </p:txBody>
      </p:sp>
      <p:pic>
        <p:nvPicPr>
          <p:cNvPr id="6" name="Grafik 5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4C9E8F48-91E0-452A-A4CB-A8FE5FE09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15" y="2571749"/>
            <a:ext cx="4848902" cy="234347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E366816-0172-02FF-B8D7-1B29150C7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656" y="1923678"/>
            <a:ext cx="4290262" cy="345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04555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53763-F9AE-D3EF-C362-7D6D4D91F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7" name="Title 6156">
            <a:extLst>
              <a:ext uri="{FF2B5EF4-FFF2-40B4-BE49-F238E27FC236}">
                <a16:creationId xmlns:a16="http://schemas.microsoft.com/office/drawing/2014/main" id="{DA909A90-C295-C3B2-F3BE-970D6B689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/>
          <a:lstStyle/>
          <a:p>
            <a:r>
              <a:rPr lang="de-DE" dirty="0" err="1"/>
              <a:t>Results</a:t>
            </a:r>
            <a:endParaRPr lang="en-US" dirty="0"/>
          </a:p>
        </p:txBody>
      </p:sp>
      <p:sp>
        <p:nvSpPr>
          <p:cNvPr id="6163" name="Slide Number Placeholder 6162">
            <a:extLst>
              <a:ext uri="{FF2B5EF4-FFF2-40B4-BE49-F238E27FC236}">
                <a16:creationId xmlns:a16="http://schemas.microsoft.com/office/drawing/2014/main" id="{8D81C5B5-31E6-D4CE-2026-3F400C0DD4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416801" y="4623195"/>
            <a:ext cx="1547813" cy="180580"/>
          </a:xfrm>
        </p:spPr>
        <p:txBody>
          <a:bodyPr/>
          <a:lstStyle/>
          <a:p>
            <a:r>
              <a:rPr lang="en-US" dirty="0"/>
              <a:t>Chart </a:t>
            </a:r>
            <a:fld id="{91D913BA-B0D8-4B51-9328-DFAA0B370309}" type="slidenum">
              <a:rPr lang="en-US" b="1" smtClean="0"/>
              <a:pPr/>
              <a:t>3</a:t>
            </a:fld>
            <a:endParaRPr lang="en-US" b="1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E5F7CA-C27B-83EA-406A-AAF5D7CD36F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416801" y="4155928"/>
            <a:ext cx="1547813" cy="46726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C9E8DE-72B0-FBF0-E09B-D312B6847FA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416801" y="3562453"/>
            <a:ext cx="1547813" cy="521465"/>
          </a:xfrm>
        </p:spPr>
        <p:txBody>
          <a:bodyPr/>
          <a:lstStyle/>
          <a:p>
            <a:r>
              <a:rPr lang="en-US" dirty="0" err="1"/>
              <a:t>RapCluster</a:t>
            </a:r>
            <a:endParaRPr lang="en-US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9073E7DD-06FC-F7A3-5E9E-3B5C01451EBF}"/>
              </a:ext>
            </a:extLst>
          </p:cNvPr>
          <p:cNvSpPr txBox="1"/>
          <p:nvPr/>
        </p:nvSpPr>
        <p:spPr bwMode="gray">
          <a:xfrm>
            <a:off x="323402" y="699542"/>
            <a:ext cx="6336704" cy="21426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/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endParaRPr lang="de-DE" sz="1200" dirty="0"/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r>
              <a:rPr lang="en-US" sz="1200" dirty="0"/>
              <a:t>This is an article-level flag that becomes 1 when the article is missing at least one of the four “reporting signal” categories.</a:t>
            </a:r>
            <a:endParaRPr lang="de-DE" sz="1200" dirty="0"/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b="1" dirty="0">
              <a:solidFill>
                <a:schemeClr val="accent1"/>
              </a:solidFill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>
              <a:solidFill>
                <a:srgbClr val="00B050"/>
              </a:solidFill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>
              <a:solidFill>
                <a:srgbClr val="00B050"/>
              </a:solidFill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/>
          </a:p>
        </p:txBody>
      </p:sp>
      <p:pic>
        <p:nvPicPr>
          <p:cNvPr id="7" name="Grafik 6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FAF1E0B5-929B-77DE-ADD0-9F2A67A63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757" y="2544231"/>
            <a:ext cx="4906060" cy="237205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2C6803F-E4FE-5788-D68A-C1025EDB3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333" y="1975231"/>
            <a:ext cx="4788024" cy="19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21099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6CDFD-D102-A2C4-F69E-7F186C504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7" name="Title 6156">
            <a:extLst>
              <a:ext uri="{FF2B5EF4-FFF2-40B4-BE49-F238E27FC236}">
                <a16:creationId xmlns:a16="http://schemas.microsoft.com/office/drawing/2014/main" id="{30D17418-B3AF-31C1-836A-D0CF39376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/>
          <a:lstStyle/>
          <a:p>
            <a:r>
              <a:rPr lang="de-DE" dirty="0" err="1"/>
              <a:t>Results</a:t>
            </a:r>
            <a:endParaRPr lang="en-US" dirty="0"/>
          </a:p>
        </p:txBody>
      </p:sp>
      <p:sp>
        <p:nvSpPr>
          <p:cNvPr id="6163" name="Slide Number Placeholder 6162">
            <a:extLst>
              <a:ext uri="{FF2B5EF4-FFF2-40B4-BE49-F238E27FC236}">
                <a16:creationId xmlns:a16="http://schemas.microsoft.com/office/drawing/2014/main" id="{1769CD31-DF03-DCDE-38DA-C3FA0E5EE2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416801" y="4623195"/>
            <a:ext cx="1547813" cy="180580"/>
          </a:xfrm>
        </p:spPr>
        <p:txBody>
          <a:bodyPr/>
          <a:lstStyle/>
          <a:p>
            <a:r>
              <a:rPr lang="en-US" dirty="0"/>
              <a:t>Chart </a:t>
            </a:r>
            <a:fld id="{91D913BA-B0D8-4B51-9328-DFAA0B370309}" type="slidenum">
              <a:rPr lang="en-US" b="1" smtClean="0"/>
              <a:pPr/>
              <a:t>4</a:t>
            </a:fld>
            <a:endParaRPr lang="en-US" b="1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FC636F-1FE1-039F-C1C8-A2A3264D9D1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416801" y="4155928"/>
            <a:ext cx="1547813" cy="46726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5AD25-EE04-BD6C-13A0-856DFE9D05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416801" y="3562453"/>
            <a:ext cx="1547813" cy="521465"/>
          </a:xfrm>
        </p:spPr>
        <p:txBody>
          <a:bodyPr/>
          <a:lstStyle/>
          <a:p>
            <a:r>
              <a:rPr lang="en-US" dirty="0" err="1"/>
              <a:t>RapCluster</a:t>
            </a:r>
            <a:endParaRPr lang="en-US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F7C2CF00-7897-2C53-43BB-73318429D5A2}"/>
              </a:ext>
            </a:extLst>
          </p:cNvPr>
          <p:cNvSpPr txBox="1"/>
          <p:nvPr/>
        </p:nvSpPr>
        <p:spPr bwMode="gray">
          <a:xfrm>
            <a:off x="323402" y="699542"/>
            <a:ext cx="6336704" cy="21426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/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endParaRPr lang="de-DE" sz="1200" dirty="0"/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r>
              <a:rPr lang="en-US" sz="1200" b="1" dirty="0" err="1">
                <a:solidFill>
                  <a:schemeClr val="accent1"/>
                </a:solidFill>
              </a:rPr>
              <a:t>missing_params</a:t>
            </a:r>
            <a:r>
              <a:rPr lang="en-US" sz="1200" b="1" dirty="0">
                <a:solidFill>
                  <a:schemeClr val="accent1"/>
                </a:solidFill>
              </a:rPr>
              <a:t>: </a:t>
            </a:r>
            <a:r>
              <a:rPr lang="en-US" sz="1200" dirty="0"/>
              <a:t>no explicit parameter value/config mentioned (k, eps, resolution, </a:t>
            </a:r>
            <a:r>
              <a:rPr lang="en-US" sz="1200" dirty="0" err="1"/>
              <a:t>n_clusters</a:t>
            </a:r>
            <a:r>
              <a:rPr lang="en-US" sz="1200" dirty="0"/>
              <a:t>, linkage, etc.).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r>
              <a:rPr lang="de-DE" sz="1200" b="1" dirty="0" err="1">
                <a:solidFill>
                  <a:schemeClr val="accent1"/>
                </a:solidFill>
              </a:rPr>
              <a:t>missing_justification</a:t>
            </a:r>
            <a:r>
              <a:rPr lang="de-DE" sz="1200" b="1" dirty="0">
                <a:solidFill>
                  <a:schemeClr val="accent1"/>
                </a:solidFill>
              </a:rPr>
              <a:t>: </a:t>
            </a:r>
            <a:r>
              <a:rPr lang="en-US" sz="1200" dirty="0"/>
              <a:t>no explicit reasoning/selection rationale for the parameter/cluster choice (elbow, silhouette analysis, “we chose… based on…”, etc.).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r>
              <a:rPr lang="de-DE" sz="1200" b="1" dirty="0" err="1">
                <a:solidFill>
                  <a:schemeClr val="accent1"/>
                </a:solidFill>
              </a:rPr>
              <a:t>missing_evaluation</a:t>
            </a:r>
            <a:r>
              <a:rPr lang="de-DE" sz="1200" b="1" dirty="0">
                <a:solidFill>
                  <a:schemeClr val="accent1"/>
                </a:solidFill>
              </a:rPr>
              <a:t>: </a:t>
            </a:r>
            <a:r>
              <a:rPr lang="de-DE" sz="1200" dirty="0" err="1"/>
              <a:t>no</a:t>
            </a:r>
            <a:r>
              <a:rPr lang="de-DE" sz="1200" dirty="0"/>
              <a:t> explicit </a:t>
            </a:r>
            <a:r>
              <a:rPr lang="de-DE" sz="1200" dirty="0" err="1"/>
              <a:t>validation</a:t>
            </a:r>
            <a:r>
              <a:rPr lang="de-DE" sz="1200" dirty="0"/>
              <a:t>/</a:t>
            </a:r>
            <a:r>
              <a:rPr lang="de-DE" sz="1200" dirty="0" err="1"/>
              <a:t>quality</a:t>
            </a:r>
            <a:r>
              <a:rPr lang="de-DE" sz="1200" dirty="0"/>
              <a:t> check </a:t>
            </a:r>
            <a:r>
              <a:rPr lang="de-DE" sz="1200" dirty="0" err="1"/>
              <a:t>of</a:t>
            </a:r>
            <a:r>
              <a:rPr lang="de-DE" sz="1200" dirty="0"/>
              <a:t> </a:t>
            </a:r>
            <a:r>
              <a:rPr lang="de-DE" sz="1200" dirty="0" err="1"/>
              <a:t>clustering</a:t>
            </a:r>
            <a:r>
              <a:rPr lang="de-DE" sz="1200" dirty="0"/>
              <a:t> (</a:t>
            </a:r>
            <a:r>
              <a:rPr lang="de-DE" sz="1200" dirty="0" err="1"/>
              <a:t>silhouette</a:t>
            </a:r>
            <a:r>
              <a:rPr lang="de-DE" sz="1200" dirty="0"/>
              <a:t>/DBI/CH, ARI/NMI, </a:t>
            </a:r>
            <a:r>
              <a:rPr lang="de-DE" sz="1200" dirty="0" err="1"/>
              <a:t>stability</a:t>
            </a:r>
            <a:r>
              <a:rPr lang="de-DE" sz="1200" dirty="0"/>
              <a:t>, BIC/AIC, </a:t>
            </a:r>
            <a:r>
              <a:rPr lang="de-DE" sz="1200" dirty="0" err="1"/>
              <a:t>modularity</a:t>
            </a:r>
            <a:r>
              <a:rPr lang="de-DE" sz="1200" dirty="0"/>
              <a:t>, etc.).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r>
              <a:rPr lang="de-DE" sz="1200" b="1" dirty="0" err="1">
                <a:solidFill>
                  <a:schemeClr val="accent1"/>
                </a:solidFill>
              </a:rPr>
              <a:t>missing_tuning</a:t>
            </a:r>
            <a:r>
              <a:rPr lang="de-DE" sz="1200" b="1" dirty="0">
                <a:solidFill>
                  <a:schemeClr val="accent1"/>
                </a:solidFill>
              </a:rPr>
              <a:t>: </a:t>
            </a:r>
            <a:r>
              <a:rPr lang="en-US" sz="1200" dirty="0"/>
              <a:t>no explicit search/optimization process over parameters (grid/random search, Bayesian opt, CV, “tuned/optimized using…”, etc.).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b="1" dirty="0">
              <a:solidFill>
                <a:schemeClr val="accent1"/>
              </a:solidFill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>
              <a:solidFill>
                <a:srgbClr val="00B050"/>
              </a:solidFill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>
              <a:solidFill>
                <a:srgbClr val="00B050"/>
              </a:solidFill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414106590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57B30-B6E2-70AE-C56A-0B20A5259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7" name="Title 6156">
            <a:extLst>
              <a:ext uri="{FF2B5EF4-FFF2-40B4-BE49-F238E27FC236}">
                <a16:creationId xmlns:a16="http://schemas.microsoft.com/office/drawing/2014/main" id="{9374BB3F-CDFA-816F-95AE-1F1C55E47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/>
          <a:lstStyle/>
          <a:p>
            <a:r>
              <a:rPr lang="de-DE" dirty="0" err="1"/>
              <a:t>Results</a:t>
            </a:r>
            <a:endParaRPr lang="en-US" dirty="0"/>
          </a:p>
        </p:txBody>
      </p:sp>
      <p:sp>
        <p:nvSpPr>
          <p:cNvPr id="6163" name="Slide Number Placeholder 6162">
            <a:extLst>
              <a:ext uri="{FF2B5EF4-FFF2-40B4-BE49-F238E27FC236}">
                <a16:creationId xmlns:a16="http://schemas.microsoft.com/office/drawing/2014/main" id="{68903F91-42A6-92D4-6B87-7BF6ABE769D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416801" y="4623195"/>
            <a:ext cx="1547813" cy="180580"/>
          </a:xfrm>
        </p:spPr>
        <p:txBody>
          <a:bodyPr/>
          <a:lstStyle/>
          <a:p>
            <a:r>
              <a:rPr lang="en-US" dirty="0"/>
              <a:t>Chart </a:t>
            </a:r>
            <a:fld id="{91D913BA-B0D8-4B51-9328-DFAA0B370309}" type="slidenum">
              <a:rPr lang="en-US" b="1" smtClean="0"/>
              <a:pPr/>
              <a:t>5</a:t>
            </a:fld>
            <a:endParaRPr lang="en-US" b="1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192513-6164-C12A-908F-C43D8968957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416801" y="4155928"/>
            <a:ext cx="1547813" cy="46726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000B83-D265-BC23-0A8E-DF3FA1B1AF4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416801" y="3562453"/>
            <a:ext cx="1547813" cy="521465"/>
          </a:xfrm>
        </p:spPr>
        <p:txBody>
          <a:bodyPr/>
          <a:lstStyle/>
          <a:p>
            <a:r>
              <a:rPr lang="en-US" dirty="0" err="1"/>
              <a:t>RapCluster</a:t>
            </a:r>
            <a:endParaRPr lang="en-US" dirty="0"/>
          </a:p>
        </p:txBody>
      </p:sp>
      <p:pic>
        <p:nvPicPr>
          <p:cNvPr id="6" name="Grafik 5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204960C2-B0ED-041B-44E6-A99162E19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803" y="1422869"/>
            <a:ext cx="4312468" cy="2106268"/>
          </a:xfrm>
          <a:prstGeom prst="rect">
            <a:avLst/>
          </a:prstGeom>
        </p:spPr>
      </p:pic>
      <p:pic>
        <p:nvPicPr>
          <p:cNvPr id="8" name="Grafik 7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862D6EBA-F532-2CEE-1AE1-727BEBD67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983" y="1275606"/>
            <a:ext cx="4505073" cy="210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01318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37366-6EBB-97A9-1086-A49535ED9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7" name="Title 6156">
            <a:extLst>
              <a:ext uri="{FF2B5EF4-FFF2-40B4-BE49-F238E27FC236}">
                <a16:creationId xmlns:a16="http://schemas.microsoft.com/office/drawing/2014/main" id="{62652376-6D27-5DA2-F59C-C5C1542DD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/>
          <a:lstStyle/>
          <a:p>
            <a:r>
              <a:rPr lang="de-DE" dirty="0" err="1"/>
              <a:t>Results</a:t>
            </a:r>
            <a:endParaRPr lang="en-US" dirty="0"/>
          </a:p>
        </p:txBody>
      </p:sp>
      <p:sp>
        <p:nvSpPr>
          <p:cNvPr id="6163" name="Slide Number Placeholder 6162">
            <a:extLst>
              <a:ext uri="{FF2B5EF4-FFF2-40B4-BE49-F238E27FC236}">
                <a16:creationId xmlns:a16="http://schemas.microsoft.com/office/drawing/2014/main" id="{B396BCDD-E0A1-1F6E-7D9C-31AB3979E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416801" y="4623195"/>
            <a:ext cx="1547813" cy="180580"/>
          </a:xfrm>
        </p:spPr>
        <p:txBody>
          <a:bodyPr/>
          <a:lstStyle/>
          <a:p>
            <a:r>
              <a:rPr lang="en-US" dirty="0"/>
              <a:t>Chart </a:t>
            </a:r>
            <a:fld id="{91D913BA-B0D8-4B51-9328-DFAA0B370309}" type="slidenum">
              <a:rPr lang="en-US" b="1" smtClean="0"/>
              <a:pPr/>
              <a:t>6</a:t>
            </a:fld>
            <a:endParaRPr lang="en-US" b="1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4CEC4A-CC95-8021-E410-406889EAB4A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416801" y="4155928"/>
            <a:ext cx="1547813" cy="46726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68B5B5-3A55-4C9B-9E7D-0D87E9D683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416801" y="3562453"/>
            <a:ext cx="1547813" cy="521465"/>
          </a:xfrm>
        </p:spPr>
        <p:txBody>
          <a:bodyPr/>
          <a:lstStyle/>
          <a:p>
            <a:r>
              <a:rPr lang="en-US" dirty="0" err="1"/>
              <a:t>RapCluster</a:t>
            </a:r>
            <a:endParaRPr lang="en-US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F34E928C-F9B9-D269-24D6-A385329DBC13}"/>
              </a:ext>
            </a:extLst>
          </p:cNvPr>
          <p:cNvSpPr txBox="1"/>
          <p:nvPr/>
        </p:nvSpPr>
        <p:spPr bwMode="gray">
          <a:xfrm>
            <a:off x="323402" y="699542"/>
            <a:ext cx="6336704" cy="21426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/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endParaRPr lang="de-DE" sz="1200" dirty="0"/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r>
              <a:rPr lang="de-DE" sz="1200" dirty="0"/>
              <a:t>W</a:t>
            </a:r>
            <a:r>
              <a:rPr lang="en-US" sz="1200" dirty="0" err="1"/>
              <a:t>ithin</a:t>
            </a:r>
            <a:r>
              <a:rPr lang="en-US" sz="1200" dirty="0"/>
              <a:t> a given year, how the total missingness flags are split across the four categories.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 err="1"/>
              <a:t>Concretely</a:t>
            </a:r>
            <a:r>
              <a:rPr lang="de-DE" sz="1200" dirty="0"/>
              <a:t>, </a:t>
            </a:r>
            <a:r>
              <a:rPr lang="de-DE" sz="1200" dirty="0" err="1"/>
              <a:t>for</a:t>
            </a:r>
            <a:r>
              <a:rPr lang="de-DE" sz="1200" dirty="0"/>
              <a:t> a </a:t>
            </a:r>
            <a:r>
              <a:rPr lang="de-DE" sz="1200" dirty="0" err="1"/>
              <a:t>year</a:t>
            </a:r>
            <a:r>
              <a:rPr lang="de-DE" sz="1200" dirty="0"/>
              <a:t>  y: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endParaRPr lang="de-DE" sz="1200" dirty="0"/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endParaRPr lang="de-DE" sz="1200" dirty="0"/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endParaRPr lang="de-DE" sz="1200" dirty="0"/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endParaRPr lang="de-DE" sz="1200" dirty="0"/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endParaRPr lang="de-DE" sz="1200" dirty="0"/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i="1" dirty="0" err="1"/>
              <a:t>missing_tuning_share</a:t>
            </a:r>
            <a:r>
              <a:rPr lang="en-US" sz="1200" i="1" dirty="0"/>
              <a:t> (%) </a:t>
            </a:r>
            <a:r>
              <a:rPr lang="en-US" sz="1200" dirty="0"/>
              <a:t>= “Of all missing-flags counted in that year (across the 4 categories), what fraction are tuning?”</a:t>
            </a:r>
            <a:endParaRPr lang="de-DE" sz="1200" dirty="0"/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>
              <a:solidFill>
                <a:srgbClr val="00B050"/>
              </a:solidFill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>
              <a:solidFill>
                <a:srgbClr val="00B050"/>
              </a:solidFill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22F915-86DA-E8B1-8529-FB94C6E4A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59" y="2137582"/>
            <a:ext cx="5976790" cy="283858"/>
          </a:xfrm>
          <a:prstGeom prst="rect">
            <a:avLst/>
          </a:prstGeom>
        </p:spPr>
      </p:pic>
      <p:pic>
        <p:nvPicPr>
          <p:cNvPr id="11" name="Grafik 10" descr="Ein Bild, das Schrift, Text, Reihe, weiß enthält.&#10;&#10;KI-generierte Inhalte können fehlerhaft sein.">
            <a:extLst>
              <a:ext uri="{FF2B5EF4-FFF2-40B4-BE49-F238E27FC236}">
                <a16:creationId xmlns:a16="http://schemas.microsoft.com/office/drawing/2014/main" id="{B20D2F49-C4EE-C94E-63DB-3ADDBABBF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586" y="2472571"/>
            <a:ext cx="2850336" cy="49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35990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D100E-2D44-7B34-A61C-0CAE4CBFB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7" name="Title 6156">
            <a:extLst>
              <a:ext uri="{FF2B5EF4-FFF2-40B4-BE49-F238E27FC236}">
                <a16:creationId xmlns:a16="http://schemas.microsoft.com/office/drawing/2014/main" id="{09D390DC-9F96-F4EA-8144-9252689B4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/>
          <a:lstStyle/>
          <a:p>
            <a:r>
              <a:rPr lang="de-DE" dirty="0" err="1"/>
              <a:t>Results</a:t>
            </a:r>
            <a:endParaRPr lang="en-US" dirty="0"/>
          </a:p>
        </p:txBody>
      </p:sp>
      <p:sp>
        <p:nvSpPr>
          <p:cNvPr id="6163" name="Slide Number Placeholder 6162">
            <a:extLst>
              <a:ext uri="{FF2B5EF4-FFF2-40B4-BE49-F238E27FC236}">
                <a16:creationId xmlns:a16="http://schemas.microsoft.com/office/drawing/2014/main" id="{295C97A1-9246-4F0F-F410-3A3EF9B3E75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416801" y="4623195"/>
            <a:ext cx="1547813" cy="180580"/>
          </a:xfrm>
        </p:spPr>
        <p:txBody>
          <a:bodyPr/>
          <a:lstStyle/>
          <a:p>
            <a:r>
              <a:rPr lang="en-US" dirty="0"/>
              <a:t>Chart </a:t>
            </a:r>
            <a:fld id="{91D913BA-B0D8-4B51-9328-DFAA0B370309}" type="slidenum">
              <a:rPr lang="en-US" b="1" smtClean="0"/>
              <a:pPr/>
              <a:t>7</a:t>
            </a:fld>
            <a:endParaRPr lang="en-US" b="1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38922E-8437-8A54-6CAE-FBF1064F7A2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416801" y="4155928"/>
            <a:ext cx="1547813" cy="46726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4FD96A-ECC0-97EC-F0DA-CEA45A6FE87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416801" y="3562453"/>
            <a:ext cx="1547813" cy="521465"/>
          </a:xfrm>
        </p:spPr>
        <p:txBody>
          <a:bodyPr/>
          <a:lstStyle/>
          <a:p>
            <a:r>
              <a:rPr lang="en-US" dirty="0" err="1"/>
              <a:t>RapCluster</a:t>
            </a:r>
            <a:endParaRPr lang="en-US" dirty="0"/>
          </a:p>
        </p:txBody>
      </p:sp>
      <p:pic>
        <p:nvPicPr>
          <p:cNvPr id="10" name="Grafik 9" descr="Ein Bild, das Text, Screenshot, Display, Software enthält.&#10;&#10;KI-generierte Inhalte können fehlerhaft sein.">
            <a:extLst>
              <a:ext uri="{FF2B5EF4-FFF2-40B4-BE49-F238E27FC236}">
                <a16:creationId xmlns:a16="http://schemas.microsoft.com/office/drawing/2014/main" id="{CA42D454-D1FB-0A05-C3F1-42FD978C6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86" y="1070662"/>
            <a:ext cx="6480720" cy="308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8918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EB4C4-16AB-9B74-9D7D-C922E4B6B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7" name="Title 6156">
            <a:extLst>
              <a:ext uri="{FF2B5EF4-FFF2-40B4-BE49-F238E27FC236}">
                <a16:creationId xmlns:a16="http://schemas.microsoft.com/office/drawing/2014/main" id="{70296A80-285B-EE54-AE72-06D94EC36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/>
          <a:lstStyle/>
          <a:p>
            <a:r>
              <a:rPr lang="en-US" dirty="0"/>
              <a:t>Is there an effect of the algorithm used?</a:t>
            </a:r>
          </a:p>
        </p:txBody>
      </p:sp>
      <p:sp>
        <p:nvSpPr>
          <p:cNvPr id="6163" name="Slide Number Placeholder 6162">
            <a:extLst>
              <a:ext uri="{FF2B5EF4-FFF2-40B4-BE49-F238E27FC236}">
                <a16:creationId xmlns:a16="http://schemas.microsoft.com/office/drawing/2014/main" id="{4DF45B54-01D9-E982-3FD3-4646C207EF8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416801" y="4623195"/>
            <a:ext cx="1547813" cy="180580"/>
          </a:xfrm>
        </p:spPr>
        <p:txBody>
          <a:bodyPr/>
          <a:lstStyle/>
          <a:p>
            <a:r>
              <a:rPr lang="en-US" dirty="0"/>
              <a:t>Chart </a:t>
            </a:r>
            <a:fld id="{91D913BA-B0D8-4B51-9328-DFAA0B370309}" type="slidenum">
              <a:rPr lang="en-US" b="1" smtClean="0"/>
              <a:pPr/>
              <a:t>8</a:t>
            </a:fld>
            <a:endParaRPr lang="en-US" b="1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1A4C35-D8DB-03DA-7AF1-AA79B795808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416801" y="4155928"/>
            <a:ext cx="1547813" cy="46726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DFE598-7C67-E762-1C3E-6D10FA75A7E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416801" y="3562453"/>
            <a:ext cx="1547813" cy="521465"/>
          </a:xfrm>
        </p:spPr>
        <p:txBody>
          <a:bodyPr/>
          <a:lstStyle/>
          <a:p>
            <a:r>
              <a:rPr lang="en-US" dirty="0" err="1"/>
              <a:t>RapCluster</a:t>
            </a:r>
            <a:endParaRPr lang="en-US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A0617747-86C1-A24E-7DA0-EA338AC53BE9}"/>
              </a:ext>
            </a:extLst>
          </p:cNvPr>
          <p:cNvSpPr txBox="1"/>
          <p:nvPr/>
        </p:nvSpPr>
        <p:spPr bwMode="gray">
          <a:xfrm>
            <a:off x="323402" y="699542"/>
            <a:ext cx="6336704" cy="21426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/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endParaRPr lang="de-DE" sz="1200" dirty="0"/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r>
              <a:rPr lang="en-US" sz="1200" dirty="0"/>
              <a:t>When algorithm X is mentioned, do papers report params/justification/evaluation/tuning differently than the overall baseline?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r>
              <a:rPr lang="en-US" sz="1200" dirty="0"/>
              <a:t>Computes the algorithm-specific missing rates for each missing flag.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r>
              <a:rPr lang="en-US" sz="1200" dirty="0"/>
              <a:t>Computes the overall baseline missing rates (across all relevant articles; typically “all articles with any algorithm match”, sometimes “all articles overall” depending on how the script was written).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r>
              <a:rPr lang="en-US" sz="1200" dirty="0"/>
              <a:t>Reports effect sizes like deltas vs overall, and often statistical tests.</a:t>
            </a:r>
            <a:endParaRPr lang="de-DE" sz="1200" dirty="0"/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endParaRPr lang="de-DE" sz="1200" dirty="0"/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endParaRPr lang="de-DE" sz="1200" dirty="0">
              <a:solidFill>
                <a:srgbClr val="00B050"/>
              </a:solidFill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>
              <a:solidFill>
                <a:srgbClr val="00B050"/>
              </a:solidFill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940719989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_Fakultät_11_EXP v20170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HPI_05_EXP" id="{EEEEA749-3836-4DC6-BA52-AE8D0ADE122A}" vid="{1AF48529-3759-4302-91D0-708D448B88CB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Template_HPI_201707__Verdana_20pt_</Template>
  <TotalTime>0</TotalTime>
  <Words>744</Words>
  <Application>Microsoft Office PowerPoint</Application>
  <PresentationFormat>Bildschirmpräsentation (16:9)</PresentationFormat>
  <Paragraphs>119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Lucida Grande</vt:lpstr>
      <vt:lpstr>Verdana</vt:lpstr>
      <vt:lpstr>TEMPLATE_Fakultät_11_EXP v201702</vt:lpstr>
      <vt:lpstr>Results</vt:lpstr>
      <vt:lpstr>Results</vt:lpstr>
      <vt:lpstr>Results</vt:lpstr>
      <vt:lpstr>Results</vt:lpstr>
      <vt:lpstr>Results</vt:lpstr>
      <vt:lpstr>Results</vt:lpstr>
      <vt:lpstr>Results</vt:lpstr>
      <vt:lpstr>Is there an effect of the algorithm used?</vt:lpstr>
    </vt:vector>
  </TitlesOfParts>
  <Company>Hasso-Plattner-Institut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of Hybridstrobes in Interleaved Bloom Filters for long error-prone Reads</dc:title>
  <dc:creator>Lutfi, Ahmad</dc:creator>
  <cp:lastModifiedBy>TU-Pseudonym 17392755397447560413363840760</cp:lastModifiedBy>
  <cp:revision>804</cp:revision>
  <cp:lastPrinted>2014-05-07T12:19:03Z</cp:lastPrinted>
  <dcterms:created xsi:type="dcterms:W3CDTF">2021-09-22T09:31:41Z</dcterms:created>
  <dcterms:modified xsi:type="dcterms:W3CDTF">2026-02-03T15:39:22Z</dcterms:modified>
</cp:coreProperties>
</file>